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giao đúng hạn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Tuần 1 (Thủ công)</c:v>
                </c:pt>
                <c:pt idx="1">
                  <c:v>Tuần 2 (Bắt đầu pilot)</c:v>
                </c:pt>
                <c:pt idx="2">
                  <c:v>Tuần 3 (Chuẩn hóa SOP)</c:v>
                </c:pt>
                <c:pt idx="3">
                  <c:v>Tuần 4 (Áp dụng VLOOKUP)</c:v>
                </c:pt>
                <c:pt idx="4">
                  <c:v>Tuần 5 (Tự động hoàn toàn)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82.1</c:v>
                </c:pt>
                <c:pt idx="1">
                  <c:v>86.4</c:v>
                </c:pt>
                <c:pt idx="2">
                  <c:v>91.2</c:v>
                </c:pt>
                <c:pt idx="3">
                  <c:v>95.8</c:v>
                </c:pt>
                <c:pt idx="4">
                  <c:v>98.4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QUY TRÌNH 3 BƯỚC GIÚP SHIPPER TIẾT KIỆM 45 PHÚT MỖI CA NHẬN ĐƠN</a:t>
            </a:r>
          </a:p>
          <a:p>
            <a:pPr>
              <a:defRPr sz="1200">
                <a:solidFill>
                  <a:srgbClr val="F97316"/>
                </a:solidFill>
              </a:defRPr>
            </a:pPr>
            <a:r>
              <a:t>Tuân thủ Miller's Law (Giới hạn 3 điểm ghi nhớ cốt lõi) | FastMove Operational Standard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01. KIỂM TRA MÃ TUYẾN</a:t>
            </a:r>
          </a:p>
          <a:p>
            <a:pPr>
              <a:spcBef>
                <a:spcPts val="1600"/>
              </a:spcBef>
              <a:spcAft>
                <a:spcPts val="2000"/>
              </a:spcAft>
              <a:defRPr sz="1250">
                <a:solidFill>
                  <a:srgbClr val="E2E8F0"/>
                </a:solidFill>
              </a:defRPr>
            </a:pPr>
            <a:r>
              <a:t>Quét mã QR trên phiếu xuất kho để xác nhận đúng khu vực phụ trách (R01 - R08), tránh đi sai phân vùng.</a:t>
            </a:r>
          </a:p>
          <a:p>
            <a:pPr>
              <a:defRPr b="1" sz="1100">
                <a:solidFill>
                  <a:srgbClr val="94A3B8"/>
                </a:solidFill>
              </a:defRPr>
            </a:pPr>
            <a:r>
              <a:t>▶ Yêu cầu: Hoàn tất trước 07:30 sáng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920240"/>
            <a:ext cx="3328416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02. ĐỐI SOÁT CƯỚC TỰ ĐỘNG</a:t>
            </a:r>
          </a:p>
          <a:p>
            <a:pPr>
              <a:spcBef>
                <a:spcPts val="1600"/>
              </a:spcBef>
              <a:spcAft>
                <a:spcPts val="2000"/>
              </a:spcAft>
              <a:defRPr sz="1250">
                <a:solidFill>
                  <a:srgbClr val="E2E8F0"/>
                </a:solidFill>
              </a:defRPr>
            </a:pPr>
            <a:r>
              <a:t>So sánh cước phí hiển thị trên App với hệ thống đã tự động tính; báo cáo ngay nếu phát sinh chênh lệch.</a:t>
            </a:r>
          </a:p>
          <a:p>
            <a:pPr>
              <a:defRPr b="1" sz="1100">
                <a:solidFill>
                  <a:srgbClr val="94A3B8"/>
                </a:solidFill>
              </a:defRPr>
            </a:pPr>
            <a:r>
              <a:t>▶ Hệ thống: Khớp dữ liệu tự động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03. KÝ NHẬN VÀ LÊN ĐƯỜNG</a:t>
            </a:r>
          </a:p>
          <a:p>
            <a:pPr>
              <a:spcBef>
                <a:spcPts val="1600"/>
              </a:spcBef>
              <a:spcAft>
                <a:spcPts val="2000"/>
              </a:spcAft>
              <a:defRPr sz="1250">
                <a:solidFill>
                  <a:srgbClr val="E2E8F0"/>
                </a:solidFill>
              </a:defRPr>
            </a:pPr>
            <a:r>
              <a:t>Xác nhận số lượng thực tế bằng chữ ký điện tử trên thiết bị cầm tay và xuất phát theo lộ trình tối ưu.</a:t>
            </a:r>
          </a:p>
          <a:p>
            <a:pPr>
              <a:defRPr b="1" sz="1100">
                <a:solidFill>
                  <a:srgbClr val="94A3B8"/>
                </a:solidFill>
              </a:defRPr>
            </a:pPr>
            <a:r>
              <a:t>▶ Cam kết: Rút ngắn thời gian chờ tại kho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300">
                <a:solidFill>
                  <a:srgbClr val="FFFFFF"/>
                </a:solidFill>
              </a:defRPr>
            </a:pPr>
            <a:r>
              <a:t>TỶ LỆ GIAO ĐÚNG HẸN ĐẠT ĐỈNH 98.4% NHỜ TỰ ĐỘNG HÓA TRA CƯỚC VÀ PHÂN TUYẾN</a:t>
            </a:r>
          </a:p>
          <a:p>
            <a:pPr>
              <a:defRPr sz="1200">
                <a:solidFill>
                  <a:srgbClr val="F97316"/>
                </a:solidFill>
              </a:defRPr>
            </a:pPr>
            <a:r>
              <a:t>So sánh hiệu suất 5 tuần: Thời gian trễ giảm từ 16h xuống 0h | Tỷ lệ thành công vượt chỉ tiêu tháng 10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82880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1828800"/>
            <a:ext cx="2926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b="1" sz="1400">
                <a:solidFill>
                  <a:srgbClr val="F97316"/>
                </a:solidFill>
              </a:defRPr>
            </a:pPr>
            <a:r>
              <a:t>ĐIỂM SÁNG NỔI BẬT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✔ Tiết kiệm 16 giờ làm việc thủ công mỗi ngày cho toàn bộ nhân sự kho vận.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✔ Tỷ lệ giao hàng đúng hạn tăng vọt từ 82.1% lên 98.4% ở tuần thứ 5.</a:t>
            </a:r>
          </a:p>
          <a:p>
            <a:pPr>
              <a:spcBef>
                <a:spcPts val="1400"/>
              </a:spcBef>
              <a:defRPr sz="1100">
                <a:solidFill>
                  <a:srgbClr val="E2E8F0"/>
                </a:solidFill>
              </a:defRPr>
            </a:pPr>
            <a:r>
              <a:t>✔ Khắc phục 100% lỗi tra sai biểu giá cước khi đối soát với khách hàng.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